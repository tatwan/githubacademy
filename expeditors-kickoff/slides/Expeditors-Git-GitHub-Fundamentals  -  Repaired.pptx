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4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EXPEDITORS · ENGINEERING KICKOFF 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&amp; GitHub 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on day one: the mental model, the daily workflow,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first push to GitHub.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4937760" cy="1417320"/>
          </a:xfrm>
          <a:prstGeom prst="roundRect">
            <a:avLst>
              <a:gd name="adj" fmla="val 451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32735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32735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32735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465576"/>
            <a:ext cx="4535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 your-career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repository.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"Day 1: learn Git &amp; GitHub"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a1b2c3d] Day 1: learn Git &amp; GitHub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· live on Zoom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→ demo → hands-on labs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 or local terminal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DAY, MAPPED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— 8:30 AM to 2:30 PM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environment check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The Git Mental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Your First Repository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9:55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Everyday Git Workflow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Edit → Stage → Commit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10:55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GitHub Fundamentals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6344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(60 min)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2002536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Local Meets Remote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63440" y="2432304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Branching Basics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63440" y="2862072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Branch, Change, Merge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3721608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321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Collaboration Preview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6344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7316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cheat sheet · Q&amp;A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today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19202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explain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concept blocks with diagrams — the why before the how.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64008" cy="19202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0440" y="15087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demo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my terminal / Codespaces. Watch the commands and their output.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64008" cy="19202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1508760"/>
            <a:ext cx="384048" cy="384048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7336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lab after every module. Follow-along steps + a solo challenge.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64008" cy="105156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account (free) — that's genuinely it.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run in GitHub Codespaces, a full dev machine in your browser. Prefer local? A terminal with Git 2.23+ works too.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Mental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Git does before touching commands.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6537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6537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6573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573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9102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102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version control exists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WITHOUT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report_v2.docx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report_final_FINAL.docx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report_final_REAL_use-this-one.docx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of report_final (3).docx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works? Who changed what? Can we go back?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840480" cy="2194560"/>
          </a:xfrm>
          <a:prstGeom prst="roundRect">
            <a:avLst>
              <a:gd name="adj" fmla="val 291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9262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7550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58384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7488" y="2002536"/>
            <a:ext cx="3438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8d3f2e1 Fix totals in Q4 summary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5b9c044 Add executive summary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21aa7f0 Rewrite intro after review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9e0d512 First draft of report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Full history. Every version recoverable. Every change explained — and it works for a whole team at once.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</a:t>
            </a: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</a:t>
            </a: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takes </a:t>
            </a: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whole project every time you commit — like a save point in a video game you can always return 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64008" cy="16916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 developers use Git — the de-facto industry 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64008" cy="16916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9300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 to manage the Linux kernel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64008" cy="16916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764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free — full history on your machine, works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9593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tool on your machine. GitHub is a website that hosts Git repositories. More on that after lunch — for now, everything is local.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WHERE CODE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vs. remote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DEDE9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files + full history,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inside the .git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7F0FB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repository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home base your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syncs with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200" y="2148840"/>
            <a:ext cx="1371600" cy="310896"/>
          </a:xfrm>
          <a:prstGeom prst="rightArrow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0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3063240"/>
            <a:ext cx="1371600" cy="310896"/>
          </a:xfrm>
          <a:prstGeom prst="leftArrow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syncs automatically.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and GitHub are two separate repositories — they only exchange commits when you explicitly push or pull. This morning: 100% local. This afternoon: we connect the two.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CORE DIAGRAM · WHERE EVERY CHANGE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areas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DEDE9"/>
          </a:solidFill>
          <a:ln w="1905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files, as you edit them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workbench”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BF3DC"/>
          </a:solidFill>
          <a:ln w="19050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you've marked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snapshot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shopping cart”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E9F5EC"/>
          </a:solidFill>
          <a:ln w="1905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committed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in .git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photo album”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64008" cy="91440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379476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flow one way: 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BF8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Why a staging area at all? So you choose exactly what goes into each snapshot — you can edit five files but commit two clean, focused changes.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DAILY TRIO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commands you'll run constantly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32004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am 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what's changed, what's staged, and what Git suggests next. Free to run, impossible to break anything.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before and after every other command — it's your GPS.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64008" cy="320040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9300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9300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930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9300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change from the working directory into the staging area. Nothing is saved yet — you're loading the cart.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300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&lt;file&gt; for precision · git add . for everything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280160"/>
            <a:ext cx="64008" cy="32004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2764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2764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764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records everything staged, with a message and a unique ID (hash). This is the save point.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2764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2764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"Clear, imperative message"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READING HISTORY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commit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468880"/>
          </a:xfrm>
          <a:prstGeom prst="roundRect">
            <a:avLst>
              <a:gd name="adj" fmla="val 2593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591056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8d3f2e1a94c7b02f6e5d3a18c2b4f9e7…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Ada Lovelace &lt;ada@expeditors.com&gt;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Thu Jun 11 09:14:02 2026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shipment tracking endpoint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329184" cy="329184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27101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fingerprint of this exact snapshot. First 7 characters are enough to refer to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2194560"/>
            <a:ext cx="329184" cy="329184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3969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signed — that's why we ran git config on day 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3063240"/>
            <a:ext cx="329184" cy="329184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0083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a human writes. Future-you and teammates depend on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a snapshot, not a diff.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stores the state of every file at that moment — which is why jumping to any point in history is instant and safe.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GPS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git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3154680"/>
          </a:xfrm>
          <a:prstGeom prst="roundRect">
            <a:avLst>
              <a:gd name="adj" fmla="val 2029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591056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file:   invoice.py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not staged for commit: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modified:   README.md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notes.txt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182880" cy="1828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344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— in the cart, will be in the next 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219456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21214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(modified)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 changed, but not staged yet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97180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898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(untracked)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file Git isn't managing at 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of the day: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git status. It tells you the state and suggests the next command.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before git init — why the error?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.git folder — where history lives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clean as one change travels through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log shows after the first commit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Your First Repository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labs/lab-01-your-first-repository.md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with 3 commits, made by you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red vs. green in git status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you found your root commit's full hash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Git Workflow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comfort with the edit → stage → commit cycle you'll run for the rest of your career.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1585570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5414" y="3291840"/>
            <a:ext cx="1585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5576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RHYTHM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you'll run thousands of times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70432" y="12984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editor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4086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10712" y="1298448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0720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+ git diff — what did I change?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8114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50992" y="1298448"/>
            <a:ext cx="457200" cy="457200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5099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4748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changes that belong together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2142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91272" y="129844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9127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8776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with a clear message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3429000"/>
            <a:ext cx="6400800" cy="0"/>
          </a:xfrm>
          <a:prstGeom prst="line">
            <a:avLst/>
          </a:prstGeom>
          <a:noFill/>
          <a:ln w="19050">
            <a:solidFill>
              <a:srgbClr val="9AA4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back to editing — small loops, many times a day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commit often.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commit several times an hour. Small commits = easy code review, easy bug hunting, easy undo.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NEVER COMMIT BLIND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diff answers two different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560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have I edited but not yet staged?”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working directory ↔ staging area. The moment you git add, the change leaves this view.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while editing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64008" cy="25603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--staged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am I about to commit?”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staging area ↔ last commit. Your final self-review before the snapshot becomes permanent.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right before every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087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diff:  </a:t>
            </a: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removed line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added line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 changed line shows as one of each. A change lives in exactly one of the two views, never both.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TIME TRAVEL, READ-ONLY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log toolbox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hash, author, date,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3258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one commit closely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64008" cy="603504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03911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0391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0391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driver — quick orientation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7523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7523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branch &amp; merge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523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how work flowed together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4655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-p -2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4655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diffs for the last 2 commits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4655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changed, line by 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the pager?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output opens in a scroll view — press </a:t>
            </a: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quit. (Everyone hits this. Now you know.)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WRITE FOR FUTURE-YOU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messages that age well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331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UNHELPFUL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"stuff"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"asdf"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"fixed it"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"changes"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 commit (for real)"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64008" cy="23317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7830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customs form validation"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rounding error in totals"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"Remove unused login helper"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README setup steps"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mood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“Add…”, “Fix…” — matches Git's own style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&amp; why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should get it without reading 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chars first 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enough to scan in git log --oneline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KEEP THE JUNK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.gitignore — what Git should never track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file of patterns. Anything matching is invisible to Git — it stays on your disk but never gets staged or committed. The </a:t>
            </a: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itself IS committed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whole team ignores the same things.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85416"/>
            <a:ext cx="3621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log file, anywhere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&amp; credentials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huge installed dependencies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generated output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64008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passwords, .env files — leaked keys on public GitHub get found by bots in seconds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64008" cy="804672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8529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output, logs, caches — recreated anyway, just noise in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64008" cy="80467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7673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 and friends — hundreds of MB that install from a 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Gotcha: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only affects untracked files — a pushed secret must be rotated, not just deleted.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visible in git diff… then 'vanishing' after add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--staged as the pre-commit review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API key — and how .gitignore hides it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vs git log -p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 — Edit → Stage → Commit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labs/lab-02-everyday-workflow.md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both diff views and can explain them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.gitignore hiding logs, secrets &amp; build output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farewell() committed with a clean message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Fundamentals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 to GitHub, pull it back down, and clone like it's day one on the job.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5414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90749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90749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41064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41064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DIFFERENT THINGS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vs. GitHub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tool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Linus Torvalds, 2005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hosts Git repos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cloud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collaboration: PRs, reviews, issues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Microsoft, ~150M+ users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hosts (GitLab, Bitbucket)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261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to GitHub what photos are to Instagram — the thing itself vs. the place you share it.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MORE THAN STORAGE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GitHub gives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hosting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repo, safe in the cloud, browsable from anywhere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64008" cy="14173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people, one codebase, without emailing zip files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64008" cy="141732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review → merge: how teams ship (preview at 2:05)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&amp; projects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ideas and work alongside the code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64008" cy="141732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(CI/CD)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47472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that test and deploy your code on every push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64008" cy="141732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0936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dev machine in your browser — you're using it today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use: hosting + Codespaces. The rest is your roadmap.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verbs that move commits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17520" y="12344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E7F0FB"/>
          </a:solidFill>
          <a:ln w="19050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origin  (GitHub)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32918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FDEDE9"/>
          </a:solidFill>
          <a:ln w="19050">
            <a:solidFill>
              <a:srgbClr val="F05133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repo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310896" cy="1005840"/>
          </a:xfrm>
          <a:prstGeom prst="upArrow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my commits 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148840"/>
            <a:ext cx="310896" cy="1005840"/>
          </a:xfrm>
          <a:prstGeom prst="downArrow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their commits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copy: entire repo + history, remote pre-wired. Day one at any job.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4160520"/>
            <a:ext cx="64008" cy="59436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8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download news without merging. Look before you leap; pull = fetch + merge.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THREE STEPS, ONCE PER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Publishing an existing local repo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 EMPTY repo on GitHub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→ New repository. No README, no .gitignore — your local repo already has history; two histories collide.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3794760" cy="566928"/>
          </a:xfrm>
          <a:prstGeom prst="rect">
            <a:avLst/>
          </a:prstGeom>
          <a:solidFill>
            <a:srgbClr val="E7F0FB"/>
          </a:solidFill>
          <a:ln w="9525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 — leave every checkbox unchecked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Git where the remote 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2807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“origin” is just the conventional nickname for the remote's URL.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514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https://github.com/you/repo.git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and link the branch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97280" y="3950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links local main to origin's main — after this, plain git push / git pull just work.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657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3657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64008" cy="384048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416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 in the browser: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repo page — your files, commits and hashes are there.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PROVING WHO YOU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in 2026 (no passwords!)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removed password pushes in 2021. 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tokens managed for you — usually via a one-time browser sign-in.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4008" cy="22860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signed in. Pushing to your own repos just works. Zero setup — today's happy path.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64008" cy="22860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DEFAULT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+ credential manager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 opens a browser sign-in; Git Credential Manager stores a token. Standard on Windows &amp; macOS.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64008" cy="2286000"/>
          </a:xfrm>
          <a:prstGeom prst="rect">
            <a:avLst/>
          </a:prstGeom>
          <a:solidFill>
            <a:srgbClr val="5963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963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keys / gh CLI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 on your machine, or `gh auth login`. Preferred by many pros — a topic for later, not today.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 fights you in the lab, raise a hand fast — </a:t>
            </a:r>
            <a:r>
              <a:rPr lang="en-US" sz="125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#1 first-day friction in real jobs too.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WAYS EVERY REPO BEGINS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 + connect  vs.  clone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265176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BORN ON YOUR MACHINE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add, commit…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had it first; GitHub gets a copy.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64008" cy="26517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ALREADY EXISTS SOMEWHERE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…that's it. One command: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history downloaded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origin remote pre-configured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 checked out, tracking 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at every job starts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habit: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start working, pull before you push. Most sync pain disappears.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GitHub repo EMPTY — and why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add + push -u, then refresh the browser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on GitHub.com → my laptop has no idea → pull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bringing down history + remote in one step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 — Local Meets Remote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labs/lab-03-local-meets-remote.md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live on github.com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round-tripped a change: web edit → pull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synced two local copies through GitHub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Basics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branches well enough to stop fearing them.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0318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0634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0634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SMALLER THAN YOU THINK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branch is just a movable pointer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16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2377440"/>
            <a:ext cx="10058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0528" y="1508760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12724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2798064"/>
            <a:ext cx="0" cy="329184"/>
          </a:xfrm>
          <a:prstGeom prst="line">
            <a:avLst/>
          </a:prstGeom>
          <a:noFill/>
          <a:ln w="19050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90104" y="1709928"/>
            <a:ext cx="0" cy="100584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181051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1810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new-feature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64008" cy="12344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bytes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008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literally a tiny file holding one commit hash — not a copy of your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3520440"/>
            <a:ext cx="64008" cy="12344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347472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 switching costs nothing; Git just repaints your folder from its database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3520440"/>
            <a:ext cx="64008" cy="12344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30936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a branch are as safe as commits anywhere — branches protect work, not endanger it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POINT OF IT ALL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branches exist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7772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safely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anything on a branch — main is untouched until you decide to merge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64008" cy="7772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3042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parallel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teammates, five branches, zero stepping on each other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64008" cy="7772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shippable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rule: main always works. All work happens on branches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325880"/>
            <a:ext cx="2880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52744" y="1444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5624" y="1444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18504" y="1444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07608" y="1636776"/>
            <a:ext cx="2478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-c fix-totals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'fix-totals'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fix-totals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Real-team rule you'll meet everywhere: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commits directly to main. Every change rides in on a branch.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MOVES · AND THE DISAPPEARING 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and switching branches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&lt;name&gt;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and move onto it (-c = create)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&lt;name&gt;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938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existing branch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5968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25968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branches; * marks where you 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2552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&lt;name&gt;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32552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merged branch (it refuses if unmerged — safe)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280160"/>
            <a:ext cx="2880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06440" y="1280160"/>
            <a:ext cx="64008" cy="25603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16752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“WHOA” MOMENT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16752" y="173736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 and files appear or vanish from your folder.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deleted — Git repaints your working directory to match the branch's snapshot. Your work lives in commits, not in the folder.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64008" cy="68580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git checkout in old tutorials?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job. switch (2019) is the modern, single-purpose command — use it; translate checkout when you read it.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BRINGING WORK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Merging: two shapes of history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didn't move while you worked → Git slides the pointer forward. No new commit.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3736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3464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slides ▸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→ “Fast-forward”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moved → Git creates one new commit with two parents, tying history together.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12080" y="278892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2834640"/>
            <a:ext cx="68580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301752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22860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329184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242316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3429000"/>
            <a:ext cx="68580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14032" y="2788920"/>
            <a:ext cx="310896" cy="310896"/>
          </a:xfrm>
          <a:prstGeom prst="ellipse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commit (2 parents)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→ “Merge made by ort”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64008" cy="54864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42428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to remember: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branch that should RECEIVE the changes, then </a:t>
            </a: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&lt;branch&gt;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AWARENESS, NOT MASTERY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conflicts: a question, not an error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branches change the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lines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Git won't guess. It pauses the merge and asks you to choose. Different files or different lines? Git merges silently — conflicts are rarer than their reputation.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206240" cy="2011680"/>
          </a:xfrm>
          <a:prstGeom prst="roundRect">
            <a:avLst>
              <a:gd name="adj" fmla="val 3182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85416"/>
            <a:ext cx="3803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Team Engineering Journal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 Engineering Journal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update-title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&lt;&lt;&lt;&lt;&lt;&lt;&lt; and ======= :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branch's version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======= and &gt;&gt;&gt;&gt;&gt;&gt;&gt; :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incoming branch's version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40864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78608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70048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what's right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0016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21424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12864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commit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disappearing as I switch branches (and coming back)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 — watch the pointer slide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made on purpose — and resolved calmly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branch ≠ deleting work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 — Branch, Change, Merge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labs/lab-04-branch-change-merge.md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branched, committed, merged, and cleaned up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resolved one guided conflict — and survived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you can explain FF vs. merge commit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Preview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this is heading — how real teams turn branches into shipped software.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1135685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0318" y="3291840"/>
            <a:ext cx="11356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595" y="3291840"/>
            <a:ext cx="1360627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0595" y="3291840"/>
            <a:ext cx="13606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main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real teams ship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F05133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37160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064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up-to-date 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76272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24912" y="1371600"/>
            <a:ext cx="402336" cy="402336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249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31136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commits on your branch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39312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95344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6E40C9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3984" y="1371600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4398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9624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0208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review &amp; merge my branch”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8384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14416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1371600"/>
            <a:ext cx="402336" cy="402336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63056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68696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you revise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77456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33488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82128" y="1371600"/>
            <a:ext cx="402336" cy="402336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821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87768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88352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work lands in main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everyone pulls the new main, branches again, and the loop continues.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" y="373075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already did steps 1, 2 and 5 —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solo. A pull request is just the team version of the merge you ran in Lab 4: same merge, plus a conversation in the middle. That conversation is the next session.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COLLABORATION UNIT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pull request actually 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</a:t>
            </a: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merge one branch into another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wrapped in a discussion page on GitHub. It's not a Git command; it's a GitHub feature built on top of branches and merges you already know.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64008" cy="10058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 anyone can read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changed line, side by side, in the browser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1728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201168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specific lines; questions before code lands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64008" cy="10058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gate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automated tests must pass before merge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81728" y="3200400"/>
            <a:ext cx="64008" cy="100584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trail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later: what changed, who, and—crucially—why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“pull” request?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asking the project to pull your branch in. (Odd name, universal term.)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TEAM'S SOURCE OF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is sacred — and usually locked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74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32918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“MAIN” MEANS ON A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shared, always-working version of the project — what ships to customers.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(a GitHub setting) typically enforces: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commits to main — PRs only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approving review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must pass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0" y="1280160"/>
            <a:ext cx="64008" cy="32918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YOU SEE…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904" y="1901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72784" y="1901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55664" y="1901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2093976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error: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branch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use a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…it's not broken. It's the team's safety system saying: branch, then PR.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day-one cheat sheet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I? (run constantly)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&lt;f&gt; / 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"…"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what's staged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/ --staged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unstaged / staged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2744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/ pull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receive commits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2744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remote?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2744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&lt;b&gt;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 + switch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&lt;b&gt; into current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2744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&lt;b&gt;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git status first. Then ask. Nothing committed is ever truly lost.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push in one day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repo with real history, built commit by commit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three-areas model — you know where every change lives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code on GitHub, pushed, pulled and cloned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branch merged (and one conflict survived)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645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(free book) — git-scm.com/book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— skills.github.com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 — ohshitgit.com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pull requests &amp; team workflow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8046720" cy="1051560"/>
          </a:xfrm>
          <a:prstGeom prst="roundRect">
            <a:avLst>
              <a:gd name="adj" fmla="val 608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36393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36393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2144" y="36393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831336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"Day 1 complete — Git fundamentals unlocked"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  # see you at the next session!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4325</Words>
  <Application>Microsoft Macintosh PowerPoint</Application>
  <PresentationFormat>On-screen Show (16:9)</PresentationFormat>
  <Paragraphs>690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Fundamentals — Expeditors Engineering Kickoff Day</dc:title>
  <dc:subject>PptxGenJS Presentation</dc:subject>
  <dc:creator>Tarek Atwan</dc:creator>
  <cp:lastModifiedBy>Tarek Atwan</cp:lastModifiedBy>
  <cp:revision>2</cp:revision>
  <dcterms:created xsi:type="dcterms:W3CDTF">2026-06-10T23:53:00Z</dcterms:created>
  <dcterms:modified xsi:type="dcterms:W3CDTF">2026-06-11T00:00:50Z</dcterms:modified>
</cp:coreProperties>
</file>