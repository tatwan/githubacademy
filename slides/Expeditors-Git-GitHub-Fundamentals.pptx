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9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160"/>
    <p:restoredTop sz="94610"/>
  </p:normalViewPr>
  <p:slideViewPr>
    <p:cSldViewPr snapToGrid="0" snapToObjects="1">
      <p:cViewPr varScale="1">
        <p:scale>
          <a:sx n="192" d="100"/>
          <a:sy n="192" d="100"/>
        </p:scale>
        <p:origin x="184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41428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EXPEDITORS · ENGINEERING KICKOFF DAY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&amp; GitHub Fundamentals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7C0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on day one: the mental model, the daily workflow,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B7C0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your first push to GitHub.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4937760" cy="1417320"/>
          </a:xfrm>
          <a:prstGeom prst="roundRect">
            <a:avLst>
              <a:gd name="adj" fmla="val 4516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86384" y="327355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9264" y="327355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52144" y="327355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41248" y="3465576"/>
            <a:ext cx="45354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init your-career</a:t>
            </a:r>
            <a:endParaRPr lang="en-US" sz="12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Initialized empty repository.</a:t>
            </a:r>
            <a:endParaRPr lang="en-US" sz="12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"Day 1: learn Git &amp; GitHub"</a:t>
            </a:r>
            <a:endParaRPr lang="en-US" sz="12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[main a1b2c3d] Day 1: learn Git &amp; GitHub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43600" y="324612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 · live on Zoom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B7C0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→ demo → hands-on labs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B7C0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or local terminal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73986" cy="51435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173986" cy="8915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" name="Shape 2"/>
          <p:cNvSpPr/>
          <p:nvPr/>
        </p:nvSpPr>
        <p:spPr>
          <a:xfrm>
            <a:off x="0" y="5054346"/>
            <a:ext cx="2173986" cy="8915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" name="Shape 4"/>
          <p:cNvSpPr/>
          <p:nvPr/>
        </p:nvSpPr>
        <p:spPr>
          <a:xfrm>
            <a:off x="2173986" y="0"/>
            <a:ext cx="6967728" cy="37033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Shape 5"/>
          <p:cNvSpPr/>
          <p:nvPr/>
        </p:nvSpPr>
        <p:spPr>
          <a:xfrm>
            <a:off x="2173986" y="370332"/>
            <a:ext cx="6967728" cy="150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8" name="Shape 6"/>
          <p:cNvSpPr/>
          <p:nvPr/>
        </p:nvSpPr>
        <p:spPr>
          <a:xfrm>
            <a:off x="2173986" y="385420"/>
            <a:ext cx="6967728" cy="499262"/>
          </a:xfrm>
          <a:prstGeom prst="rect">
            <a:avLst/>
          </a:prstGeom>
          <a:solidFill>
            <a:srgbClr val="F5ECD7"/>
          </a:solidFill>
          <a:ln w="12700">
            <a:solidFill>
              <a:srgbClr val="F5EC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" name="Shape 7"/>
          <p:cNvSpPr/>
          <p:nvPr/>
        </p:nvSpPr>
        <p:spPr>
          <a:xfrm>
            <a:off x="2173986" y="4094226"/>
            <a:ext cx="6967728" cy="493776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0" name="Shape 8"/>
          <p:cNvSpPr/>
          <p:nvPr/>
        </p:nvSpPr>
        <p:spPr>
          <a:xfrm>
            <a:off x="2173986" y="4588002"/>
            <a:ext cx="6967728" cy="555498"/>
          </a:xfrm>
          <a:prstGeom prst="rect">
            <a:avLst/>
          </a:prstGeom>
          <a:solidFill>
            <a:srgbClr val="FBF5E6"/>
          </a:solidFill>
          <a:ln w="12700">
            <a:solidFill>
              <a:srgbClr val="FBF5E6"/>
            </a:solidFill>
            <a:prstDash val="solid"/>
          </a:ln>
        </p:spPr>
        <p:txBody>
          <a:bodyPr/>
          <a:lstStyle/>
          <a:p>
            <a:endParaRPr lang="en-US" sz="2100"/>
          </a:p>
        </p:txBody>
      </p:sp>
      <p:sp>
        <p:nvSpPr>
          <p:cNvPr id="12" name="Shape 10"/>
          <p:cNvSpPr/>
          <p:nvPr/>
        </p:nvSpPr>
        <p:spPr>
          <a:xfrm>
            <a:off x="5378849" y="1111295"/>
            <a:ext cx="13716" cy="284607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3" name="Shape 11"/>
          <p:cNvSpPr/>
          <p:nvPr/>
        </p:nvSpPr>
        <p:spPr>
          <a:xfrm>
            <a:off x="291465" y="116586"/>
            <a:ext cx="1591056" cy="1591056"/>
          </a:xfrm>
          <a:prstGeom prst="ellipse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pic>
        <p:nvPicPr>
          <p:cNvPr id="14" name="Image 0" descr="/sessions/zealous-zen-brahmagupta/headshot_cropped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5755" y="150876"/>
            <a:ext cx="1522476" cy="1522476"/>
          </a:xfrm>
          <a:prstGeom prst="ellipse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16586" y="1762506"/>
            <a:ext cx="19408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TAREK ATWAN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16586" y="2029968"/>
            <a:ext cx="19408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7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Advisor  |  Corporate Trainer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233172" y="2251088"/>
            <a:ext cx="1707642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5"/>
          <p:cNvSpPr/>
          <p:nvPr/>
        </p:nvSpPr>
        <p:spPr>
          <a:xfrm>
            <a:off x="116586" y="2372570"/>
            <a:ext cx="194081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"/>
              </a:spcAft>
            </a:pPr>
            <a:r>
              <a:rPr lang="en-US" sz="7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 </a:t>
            </a:r>
            <a:r>
              <a:rPr lang="en-US" sz="675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tatwan@ensemblemethods.com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 </a:t>
            </a:r>
            <a:r>
              <a:rPr lang="en-US" sz="67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www.tarekatwan.com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</a:t>
            </a:r>
            <a:r>
              <a:rPr lang="en-US" sz="675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/in/tarekatwan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 </a:t>
            </a:r>
            <a:r>
              <a:rPr lang="en-US" sz="67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Amman, Jordan  |  Global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233172" y="3078133"/>
            <a:ext cx="1707642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0" name="Text 17"/>
          <p:cNvSpPr/>
          <p:nvPr/>
        </p:nvSpPr>
        <p:spPr>
          <a:xfrm>
            <a:off x="116586" y="3232337"/>
            <a:ext cx="19408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"/>
              </a:spcAft>
            </a:pPr>
            <a:r>
              <a:rPr lang="en-US" sz="7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  (5x)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AWS  (3x)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Digital Leader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 ·  Kafka  ·  Airflow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33172" y="3957365"/>
            <a:ext cx="1707642" cy="1371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2" name="Text 19"/>
          <p:cNvSpPr/>
          <p:nvPr/>
        </p:nvSpPr>
        <p:spPr>
          <a:xfrm>
            <a:off x="133731" y="4149090"/>
            <a:ext cx="19408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"/>
              </a:spcAft>
            </a:pPr>
            <a:r>
              <a:rPr lang="en-US" sz="7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AWARDS  &amp;  EDUCATION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Pluralsight Elite  2023 · 2024 · 2025</a:t>
            </a:r>
            <a:endParaRPr lang="en-US" sz="750" dirty="0"/>
          </a:p>
          <a:p>
            <a:pPr>
              <a:spcAft>
                <a:spcPts val="75"/>
              </a:spcAft>
            </a:pPr>
            <a:r>
              <a:rPr lang="en-US" sz="675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Packt Best Seller – Data Analytics 2022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263140" y="27433"/>
            <a:ext cx="6789420" cy="20738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 &amp;  CORPORATE TRAINING SPECIALIST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2263140" y="211089"/>
            <a:ext cx="6789420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75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 ·  AI / ML  ·  Generative AI  ·  Cloud Architecture  ·  Analytics  ·  Cybersecurity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2173986" y="412852"/>
            <a:ext cx="1741932" cy="289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</a:t>
            </a:r>
            <a:endParaRPr lang="en-US" sz="2100" dirty="0"/>
          </a:p>
        </p:txBody>
      </p:sp>
      <p:sp>
        <p:nvSpPr>
          <p:cNvPr id="26" name="Text 23"/>
          <p:cNvSpPr/>
          <p:nvPr/>
        </p:nvSpPr>
        <p:spPr>
          <a:xfrm>
            <a:off x="2173986" y="674992"/>
            <a:ext cx="1741932" cy="18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600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Experience</a:t>
            </a:r>
            <a:endParaRPr lang="en-US" sz="600" dirty="0"/>
          </a:p>
        </p:txBody>
      </p:sp>
      <p:sp>
        <p:nvSpPr>
          <p:cNvPr id="27" name="Shape 24"/>
          <p:cNvSpPr/>
          <p:nvPr/>
        </p:nvSpPr>
        <p:spPr>
          <a:xfrm>
            <a:off x="3919348" y="447142"/>
            <a:ext cx="12344" cy="37581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25"/>
          <p:cNvSpPr/>
          <p:nvPr/>
        </p:nvSpPr>
        <p:spPr>
          <a:xfrm>
            <a:off x="3915918" y="412852"/>
            <a:ext cx="1741932" cy="289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</a:t>
            </a:r>
            <a:endParaRPr lang="en-US" sz="2100" dirty="0"/>
          </a:p>
        </p:txBody>
      </p:sp>
      <p:sp>
        <p:nvSpPr>
          <p:cNvPr id="29" name="Text 26"/>
          <p:cNvSpPr/>
          <p:nvPr/>
        </p:nvSpPr>
        <p:spPr>
          <a:xfrm>
            <a:off x="3915918" y="674992"/>
            <a:ext cx="1741932" cy="18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600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Fellows Trained</a:t>
            </a:r>
            <a:endParaRPr lang="en-US" sz="600" dirty="0"/>
          </a:p>
        </p:txBody>
      </p:sp>
      <p:sp>
        <p:nvSpPr>
          <p:cNvPr id="30" name="Shape 27"/>
          <p:cNvSpPr/>
          <p:nvPr/>
        </p:nvSpPr>
        <p:spPr>
          <a:xfrm>
            <a:off x="5661280" y="447142"/>
            <a:ext cx="12344" cy="37581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1" name="Text 28"/>
          <p:cNvSpPr/>
          <p:nvPr/>
        </p:nvSpPr>
        <p:spPr>
          <a:xfrm>
            <a:off x="5657850" y="412852"/>
            <a:ext cx="1741932" cy="289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5657850" y="674992"/>
            <a:ext cx="1741932" cy="18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600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500 Clients</a:t>
            </a:r>
            <a:endParaRPr lang="en-US" sz="600" dirty="0"/>
          </a:p>
        </p:txBody>
      </p:sp>
      <p:sp>
        <p:nvSpPr>
          <p:cNvPr id="33" name="Shape 30"/>
          <p:cNvSpPr/>
          <p:nvPr/>
        </p:nvSpPr>
        <p:spPr>
          <a:xfrm>
            <a:off x="7403212" y="447142"/>
            <a:ext cx="12344" cy="37581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4" name="Text 31"/>
          <p:cNvSpPr/>
          <p:nvPr/>
        </p:nvSpPr>
        <p:spPr>
          <a:xfrm>
            <a:off x="7399782" y="412852"/>
            <a:ext cx="1741932" cy="289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11+</a:t>
            </a:r>
            <a:endParaRPr lang="en-US" sz="2100" dirty="0"/>
          </a:p>
        </p:txBody>
      </p:sp>
      <p:sp>
        <p:nvSpPr>
          <p:cNvPr id="35" name="Text 32"/>
          <p:cNvSpPr/>
          <p:nvPr/>
        </p:nvSpPr>
        <p:spPr>
          <a:xfrm>
            <a:off x="7399782" y="674992"/>
            <a:ext cx="1741932" cy="18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600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Certifications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2230908" y="994410"/>
            <a:ext cx="339848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EXPERTISE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521565" y="987552"/>
            <a:ext cx="339848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 &amp;  EDUCATION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2230908" y="1207008"/>
            <a:ext cx="3398482" cy="2832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Transformation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>
              <a:spcAft>
                <a:spcPts val="150"/>
              </a:spcAft>
            </a:pP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AI/ML adoption roadmaps · enterprise GenAI integration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 &amp; Engineering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>
              <a:spcAft>
                <a:spcPts val="150"/>
              </a:spcAft>
            </a:pP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788" i="1" dirty="0" err="1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Lakehouses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cloud pipelines · MLOps · DataOps · streaming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&amp; LLM Solutions</a:t>
            </a:r>
            <a:endParaRPr lang="en-US" sz="788" b="1" i="1" dirty="0">
              <a:solidFill>
                <a:srgbClr val="66667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50"/>
              </a:spcAft>
            </a:pP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Agentic AI, Automation, </a:t>
            </a:r>
            <a:r>
              <a:rPr lang="en-US" sz="788" i="1" dirty="0" err="1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LangGraph · Multi-Agent Systems · RAG · LLMOps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&amp; Data Governance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>
              <a:spcAft>
                <a:spcPts val="150"/>
              </a:spcAft>
            </a:pP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Secure &amp; Responsible AI/data frameworks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Architecture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>
              <a:spcAft>
                <a:spcPts val="150"/>
              </a:spcAft>
            </a:pP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AWS · Azure · GCP · solution design &amp; migration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&amp; Board-Level Advisory</a:t>
            </a:r>
            <a:endParaRPr lang="en-US" sz="788" b="1" i="1" dirty="0">
              <a:solidFill>
                <a:srgbClr val="66667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50"/>
              </a:spcAft>
            </a:pP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Strategic guidance for C-suite &amp; government agencies</a:t>
            </a:r>
            <a:endParaRPr lang="en-US" sz="825" dirty="0"/>
          </a:p>
          <a:p>
            <a:pPr>
              <a:spcAft>
                <a:spcPts val="150"/>
              </a:spcAft>
            </a:pP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SECTORS: 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Healthcare · Telecom · Government · Media · Energy · Retail</a:t>
            </a:r>
            <a:endParaRPr lang="en-US" sz="825" dirty="0"/>
          </a:p>
        </p:txBody>
      </p:sp>
      <p:sp>
        <p:nvSpPr>
          <p:cNvPr id="39" name="Text 36"/>
          <p:cNvSpPr/>
          <p:nvPr/>
        </p:nvSpPr>
        <p:spPr>
          <a:xfrm>
            <a:off x="5479335" y="1207008"/>
            <a:ext cx="36054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Instruction  (7+ Years)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>
              <a:spcAft>
                <a:spcPts val="150"/>
              </a:spcAft>
            </a:pP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Lead Instructor: University of Southern California · Arizona State University · Pepperdine University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Training</a:t>
            </a:r>
            <a:endParaRPr lang="en-US" sz="788" b="1" i="1" dirty="0">
              <a:solidFill>
                <a:srgbClr val="66667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50"/>
              </a:spcAft>
            </a:pPr>
            <a:r>
              <a:rPr lang="en-US" sz="788" b="1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Pluralsight Elite Instructor — Intuit · LEGO · J&amp;J · NY Life · Hartford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Bootcamps</a:t>
            </a:r>
            <a:endParaRPr lang="en-US" sz="788" b="1" i="1" dirty="0">
              <a:solidFill>
                <a:srgbClr val="66667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50"/>
              </a:spcAft>
            </a:pPr>
            <a:r>
              <a:rPr lang="en-US" sz="788" b="1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fellows — USAID Tech for Jobs  (18-week Data Analytics)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Training</a:t>
            </a:r>
            <a:endParaRPr lang="en-US" sz="788" b="1" i="1" dirty="0">
              <a:solidFill>
                <a:srgbClr val="66667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50"/>
              </a:spcAft>
            </a:pPr>
            <a:r>
              <a:rPr lang="en-US" sz="788" b="1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20-week bootcamp · Cyber Advance for Women in MENA · CompTIA Security+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&amp; AI Engineering</a:t>
            </a:r>
            <a:endParaRPr lang="en-US" sz="788" b="1" i="1" dirty="0">
              <a:solidFill>
                <a:srgbClr val="66667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50"/>
              </a:spcAft>
            </a:pPr>
            <a:r>
              <a:rPr lang="en-US" sz="788" b="1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· LangChain · LlamaIndex · CrewAI · NLP · Computer Vision</a:t>
            </a:r>
            <a:endParaRPr lang="en-US" sz="825" dirty="0"/>
          </a:p>
          <a:p>
            <a:pPr>
              <a:spcAft>
                <a:spcPts val="150"/>
              </a:spcAft>
            </a:pPr>
            <a:r>
              <a:rPr lang="en-US" sz="825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Topics</a:t>
            </a:r>
            <a:endParaRPr lang="en-US" sz="788" b="1" i="1" dirty="0">
              <a:solidFill>
                <a:srgbClr val="66667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150"/>
              </a:spcAft>
            </a:pPr>
            <a:r>
              <a:rPr lang="en-US" sz="788" b="1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· Deep Learning · Data Engineering · Python · Cloud · MLOps · dbt · Kafka</a:t>
            </a:r>
            <a:endParaRPr lang="en-US" sz="825" dirty="0"/>
          </a:p>
        </p:txBody>
      </p:sp>
      <p:pic>
        <p:nvPicPr>
          <p:cNvPr id="40" name="Image 1" descr="/sessions/zealous-zen-brahmagupta/unpacked/ppt/media/imag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542" y="3461457"/>
            <a:ext cx="2077545" cy="557332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2263140" y="4094226"/>
            <a:ext cx="67894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25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NOTABLE CLIENTS:  </a:t>
            </a:r>
            <a:r>
              <a:rPr lang="en-US" sz="825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LEGO</a:t>
            </a:r>
            <a:r>
              <a:rPr lang="en-US" sz="825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25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Johnson &amp; Johnson  ·  Intuit  ·  American Express  ·  Disney  ·  AT&amp;T  ·  McDonald's  ·  Wells Fargo  ·  NBCUniversal  ·  T-Mobile  ·  Amgen  ·  ARAMCO  ·  Emirates Airlines  ·  Dubai Health Authority  ·  ADIA  ·  QIA  ·  DIFC  ·  Shell  ·  BP  ·  STC  ·  Careem  ·  Ooredoo</a:t>
            </a:r>
            <a:endParaRPr lang="en-US" sz="825" dirty="0"/>
          </a:p>
        </p:txBody>
      </p:sp>
      <p:pic>
        <p:nvPicPr>
          <p:cNvPr id="42" name="Image 2" descr="/sessions/zealous-zen-brahmagupta/unpacked/ppt/media/image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3206" y="4588002"/>
            <a:ext cx="463492" cy="567700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3376246" y="4588002"/>
            <a:ext cx="56763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AUTHOR  </a:t>
            </a:r>
            <a:r>
              <a:rPr lang="en-US" sz="788" i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Seller – Data Analytics (Packt Publishing)</a:t>
            </a:r>
            <a:endParaRPr lang="en-US" sz="788" dirty="0"/>
          </a:p>
          <a:p>
            <a:r>
              <a:rPr lang="en-US" sz="788" b="1" dirty="0">
                <a:solidFill>
                  <a:srgbClr val="33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Analysis with Python Cookbook</a:t>
            </a:r>
            <a:r>
              <a:rPr lang="en-US" sz="788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1st Ed. 2022  ·  Japanese Ed. 2023  ·  </a:t>
            </a:r>
            <a:r>
              <a:rPr lang="en-US" sz="788" b="1" dirty="0">
                <a:solidFill>
                  <a:srgbClr val="66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Ed. 2026</a:t>
            </a:r>
            <a:endParaRPr lang="en-US" sz="788" b="1" dirty="0"/>
          </a:p>
        </p:txBody>
      </p:sp>
      <p:sp>
        <p:nvSpPr>
          <p:cNvPr id="44" name="Text 39"/>
          <p:cNvSpPr/>
          <p:nvPr/>
        </p:nvSpPr>
        <p:spPr>
          <a:xfrm>
            <a:off x="2263140" y="4930902"/>
            <a:ext cx="6789420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endParaRPr lang="en-US" sz="6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DAY, MAPPED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 — 8:30 AM to 2:30 PM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4023360" cy="365760"/>
          </a:xfrm>
          <a:prstGeom prst="rect">
            <a:avLst/>
          </a:prstGeom>
          <a:solidFill>
            <a:srgbClr val="EEF0F2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57276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8:30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25880" y="1572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+ environment check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002536"/>
            <a:ext cx="4023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00253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8:45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0025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· The Git Mental Model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432304"/>
            <a:ext cx="4023360" cy="365760"/>
          </a:xfrm>
          <a:prstGeom prst="rect">
            <a:avLst/>
          </a:prstGeom>
          <a:solidFill>
            <a:srgbClr val="E9F5EC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43230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9:25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243230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· Your First Repository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862072"/>
            <a:ext cx="4023360" cy="365760"/>
          </a:xfrm>
          <a:prstGeom prst="rect">
            <a:avLst/>
          </a:prstGeom>
          <a:solidFill>
            <a:srgbClr val="EEF0F2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" y="286207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9:45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25880" y="2862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(10 min)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4023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32918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9:55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25880" y="3291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 · Everyday Git Workflow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721608"/>
            <a:ext cx="4023360" cy="365760"/>
          </a:xfrm>
          <a:prstGeom prst="rect">
            <a:avLst/>
          </a:prstGeom>
          <a:solidFill>
            <a:srgbClr val="E9F5EC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372160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10:30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2588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· Edit → Stage → Commit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57200" y="4151376"/>
            <a:ext cx="4023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" y="415137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10:55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25880" y="41513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· GitHub Fundamentals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663440" y="12070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1572768"/>
            <a:ext cx="4023360" cy="365760"/>
          </a:xfrm>
          <a:prstGeom prst="rect">
            <a:avLst/>
          </a:prstGeom>
          <a:solidFill>
            <a:srgbClr val="EEF0F2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73168" y="157276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11:30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32120" y="1572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Lunch (60 min)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63440" y="2002536"/>
            <a:ext cx="4023360" cy="365760"/>
          </a:xfrm>
          <a:prstGeom prst="rect">
            <a:avLst/>
          </a:prstGeom>
          <a:solidFill>
            <a:srgbClr val="E9F5EC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73168" y="200253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12:30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532120" y="200253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3 · Local Meets Remote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663440" y="2432304"/>
            <a:ext cx="4023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773168" y="243230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12:55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532120" y="243230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· Branching Basics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663440" y="2862072"/>
            <a:ext cx="4023360" cy="365760"/>
          </a:xfrm>
          <a:prstGeom prst="rect">
            <a:avLst/>
          </a:prstGeom>
          <a:solidFill>
            <a:srgbClr val="E9F5EC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73168" y="286207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1:30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532120" y="28620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· Branch, Change, Merge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4663440" y="3291840"/>
            <a:ext cx="4023360" cy="365760"/>
          </a:xfrm>
          <a:prstGeom prst="rect">
            <a:avLst/>
          </a:prstGeom>
          <a:solidFill>
            <a:srgbClr val="EEF0F2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773168" y="32918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1:55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532120" y="3291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(10 min)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663440" y="3721608"/>
            <a:ext cx="4023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73168" y="372160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2:05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532120" y="37216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· Collaboration Preview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4663440" y="4151376"/>
            <a:ext cx="4023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773168" y="415137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2:22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532120" y="41513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 · cheat sheet · Q&amp;A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today works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651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" cy="192024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508760"/>
            <a:ext cx="384048" cy="384048"/>
          </a:xfrm>
          <a:prstGeom prst="ellipse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151790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explain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210312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concept blocks with diagrams — the why before the how.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1280160"/>
            <a:ext cx="2651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91840" y="1280160"/>
            <a:ext cx="64008" cy="1920240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520440" y="1508760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2044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023360" y="151790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demo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38728" y="210312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my terminal / Codespaces. Watch the commands and their output.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1280160"/>
            <a:ext cx="26517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26480" y="1280160"/>
            <a:ext cx="64008" cy="192024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355080" y="1508760"/>
            <a:ext cx="384048" cy="384048"/>
          </a:xfrm>
          <a:prstGeom prst="ellipse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5508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58000" y="151790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do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73368" y="210312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 lab after every module. Follow-along steps + a solo challenge.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64008" cy="1051560"/>
          </a:xfrm>
          <a:prstGeom prst="rect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3232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F8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 TODAY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GitHub account (free) — that's genuinely it. 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run in GitHub Codespaces, a full dev machine in your browser. Prefer local? A terminal with Git 2.23+ works too.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0" y="64008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262E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OF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Git Mental Model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— </a:t>
            </a:r>
            <a:r>
              <a:rPr lang="en-US" sz="16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what Git does before touching commands.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060704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865376" y="3291840"/>
            <a:ext cx="835762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865376" y="3291840"/>
            <a:ext cx="8357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865730" y="3291840"/>
            <a:ext cx="1060704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865730" y="329184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091026" y="3291840"/>
            <a:ext cx="835762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091026" y="3291840"/>
            <a:ext cx="8357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4160520"/>
            <a:ext cx="146304" cy="146304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50976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243584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536192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828800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version control exists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3192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64008" cy="2651760"/>
          </a:xfrm>
          <a:prstGeom prst="rect">
            <a:avLst/>
          </a:prstGeom>
          <a:solidFill>
            <a:srgbClr val="FF7B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WITHOUT 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719072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report.docx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report_v2.docx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report_final.docx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report_final_FINAL.docx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report_final_REAL_use-this-one.docx</a:t>
            </a:r>
            <a:endParaRPr lang="en-US" sz="12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of report_final (3).docx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33101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works? Who changed what? Can we go back?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WITH GIT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1691640"/>
            <a:ext cx="3840480" cy="2194560"/>
          </a:xfrm>
          <a:prstGeom prst="roundRect">
            <a:avLst>
              <a:gd name="adj" fmla="val 2917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992624" y="181051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175504" y="181051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58384" y="181051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47488" y="2002536"/>
            <a:ext cx="34381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log --oneline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8d3f2e1 Fix totals in Q4 summary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5b9c044 Add executive summary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21aa7f0 Rewrite intro after review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9e0d512 First draft of report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file. Full history. Every version recoverable. Every change explained — and it works for a whole team at once.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THE TOOL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Git?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is a </a:t>
            </a: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system</a:t>
            </a:r>
            <a:r>
              <a:rPr lang="en-US" sz="16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it takes </a:t>
            </a:r>
            <a:r>
              <a:rPr lang="en-US" sz="160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</a:t>
            </a:r>
            <a:r>
              <a:rPr lang="en-US" sz="16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your whole project every time you commit — like a save point in a video game you can always return to.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26517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64008" cy="1691640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051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~94%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58368" y="28529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professional developers use Git — the de-facto industry standard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965960"/>
            <a:ext cx="26517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91840" y="1965960"/>
            <a:ext cx="64008" cy="169164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74720" y="21031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969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2005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493008" y="28529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 Linus Torvalds to manage the Linux kernel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1965960"/>
            <a:ext cx="26517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26480" y="1965960"/>
            <a:ext cx="64008" cy="169164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9360" y="21031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DA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327648" y="285292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free — full history on your machine, works offline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82296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64008" cy="6858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13232" y="395935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≠ GitHub.  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is the tool on your machine. GitHub is a website that hosts Git repositories. More on that after lunch — for now, everything is local.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WHERE CODE LIVES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vs. remote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31089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6276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MACHINE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(local)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228600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DEDE9"/>
          </a:solidFill>
          <a:ln w="12700">
            <a:solidFill>
              <a:srgbClr val="F051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2395728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repository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files + full history,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inside the .git folder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394960" y="1463040"/>
            <a:ext cx="31089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969DA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94960" y="16276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94960" y="19202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(remote)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15000" y="228600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E7F0FB"/>
          </a:solidFill>
          <a:ln w="12700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06440" y="2395728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copy of the repository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home base your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 syncs with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886200" y="2148840"/>
            <a:ext cx="1371600" cy="310896"/>
          </a:xfrm>
          <a:prstGeom prst="rightArrow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0" y="183794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↑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86200" y="3063240"/>
            <a:ext cx="1371600" cy="310896"/>
          </a:xfrm>
          <a:prstGeom prst="leftArrow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7600" y="275234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 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syncs automatically. 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laptop and GitHub are two separate repositories — they only exchange commits when you explicitly push or pull. This morning: 100% local. This afternoon: we connect the two.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THE CORE DIAGRAM · WHERE EVERY CHANGE LIVES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areas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37160" y="1371600"/>
            <a:ext cx="2377440" cy="1965960"/>
          </a:xfrm>
          <a:prstGeom prst="roundRect">
            <a:avLst>
              <a:gd name="adj" fmla="val 4186"/>
            </a:avLst>
          </a:prstGeom>
          <a:solidFill>
            <a:srgbClr val="FDEDE9"/>
          </a:solidFill>
          <a:ln w="19050">
            <a:solidFill>
              <a:srgbClr val="C0392B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7160" y="15727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 DIRECTORY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74320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files, as you edit them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workbench”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0420" y="1371600"/>
            <a:ext cx="2377440" cy="1965960"/>
          </a:xfrm>
          <a:prstGeom prst="roundRect">
            <a:avLst>
              <a:gd name="adj" fmla="val 4186"/>
            </a:avLst>
          </a:prstGeom>
          <a:solidFill>
            <a:srgbClr val="FBF3DC"/>
          </a:solidFill>
          <a:ln w="19050">
            <a:solidFill>
              <a:srgbClr val="BF8700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60420" y="15727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BF87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STAGING AREA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497580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you've marked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next snapshot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042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shopping cart”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75120" y="1371600"/>
            <a:ext cx="2377440" cy="1965960"/>
          </a:xfrm>
          <a:prstGeom prst="roundRect">
            <a:avLst>
              <a:gd name="adj" fmla="val 4186"/>
            </a:avLst>
          </a:prstGeom>
          <a:solidFill>
            <a:srgbClr val="E9F5EC"/>
          </a:solidFill>
          <a:ln w="19050">
            <a:solidFill>
              <a:srgbClr val="2DA44E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15727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DA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REPOSITORY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812280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permanent, committed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in .git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7512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photo album”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560320" y="2194560"/>
            <a:ext cx="868680" cy="292608"/>
          </a:xfrm>
          <a:prstGeom prst="rightArrow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188366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77840" y="188366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3703320"/>
            <a:ext cx="64008" cy="914400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3232" y="3794760"/>
            <a:ext cx="7726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flow one way:  </a:t>
            </a: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en-US" sz="1350" b="1" dirty="0">
                <a:solidFill>
                  <a:srgbClr val="BF8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r>
              <a:rPr lang="en-US" sz="135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Why a staging area at all? So you choose exactly what goes into each snapshot — you can edit five files but commit two clean, focused changes.</a:t>
            </a:r>
            <a:endParaRPr lang="en-US" sz="1350" dirty="0"/>
          </a:p>
        </p:txBody>
      </p:sp>
      <p:sp>
        <p:nvSpPr>
          <p:cNvPr id="25" name="Shape 16">
            <a:extLst>
              <a:ext uri="{FF2B5EF4-FFF2-40B4-BE49-F238E27FC236}">
                <a16:creationId xmlns:a16="http://schemas.microsoft.com/office/drawing/2014/main" id="{1A2B63FC-2262-FA34-DE8B-325A4DF983C6}"/>
              </a:ext>
            </a:extLst>
          </p:cNvPr>
          <p:cNvSpPr/>
          <p:nvPr/>
        </p:nvSpPr>
        <p:spPr>
          <a:xfrm>
            <a:off x="5806440" y="2163227"/>
            <a:ext cx="868680" cy="292608"/>
          </a:xfrm>
          <a:prstGeom prst="rightArrow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YOUR DAILY TRIO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commands you'll run constantly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6517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" cy="320040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58368" y="1481328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06654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969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am I?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24505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what's changed, what's staged, and what Git suggests next. Free to run, impossible to break anything.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3703320"/>
            <a:ext cx="2240280" cy="0"/>
          </a:xfrm>
          <a:prstGeom prst="line">
            <a:avLst/>
          </a:prstGeom>
          <a:noFill/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8368" y="37947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before and after every other command — it's your GPS.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91840" y="1280160"/>
            <a:ext cx="26517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91840" y="1280160"/>
            <a:ext cx="64008" cy="3200400"/>
          </a:xfrm>
          <a:prstGeom prst="rect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493008" y="1481328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93008" y="14813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493008" y="206654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F87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it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93008" y="24505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a change from the working directory into the staging area. Nothing is saved yet — you're loading the cart.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93008" y="3703320"/>
            <a:ext cx="2240280" cy="0"/>
          </a:xfrm>
          <a:prstGeom prst="line">
            <a:avLst/>
          </a:prstGeom>
          <a:noFill/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93008" y="37947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&lt;file&gt; for precision · git add . for everything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126480" y="1280160"/>
            <a:ext cx="26517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126480" y="1280160"/>
            <a:ext cx="64008" cy="320040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327648" y="1481328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27648" y="148132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27648" y="206654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A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Snapshot it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27648" y="2450592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 records everything staged, with a message and a unique ID (hash). This is the save point.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327648" y="3703320"/>
            <a:ext cx="2240280" cy="0"/>
          </a:xfrm>
          <a:prstGeom prst="line">
            <a:avLst/>
          </a:prstGeom>
          <a:noFill/>
          <a:ln w="1270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327648" y="37947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 -m "Clear, imperative message"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8" grpId="0" animBg="1"/>
      <p:bldP spid="19" grpId="0" animBg="1"/>
      <p:bldP spid="20" grpId="0" animBg="1"/>
      <p:bldP spid="21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READING HISTORY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Anatomy of a commit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120640" cy="2468880"/>
          </a:xfrm>
          <a:prstGeom prst="roundRect">
            <a:avLst>
              <a:gd name="adj" fmla="val 2593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03504" y="139903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86384" y="139903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69264" y="139903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1591056"/>
            <a:ext cx="4718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log</a:t>
            </a:r>
            <a:endParaRPr lang="en-US" sz="12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00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8d3f2e1a94c7b02f6e5d3a18c2b4f9e7…</a:t>
            </a:r>
            <a:endParaRPr lang="en-US" sz="12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Author: Ada Lovelace &lt;ada@expeditors.com&gt;</a:t>
            </a:r>
            <a:endParaRPr lang="en-US" sz="12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Date:   Thu Jun 11 09:14:02 2026</a:t>
            </a:r>
            <a:endParaRPr lang="en-US" sz="1200" dirty="0"/>
          </a:p>
          <a:p>
            <a:pPr marL="0" indent="0" algn="l">
              <a:spcAft>
                <a:spcPts val="300"/>
              </a:spcAft>
              <a:buNone/>
            </a:pPr>
            <a:endParaRPr lang="en-US" sz="12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shipment tracking endpoint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06440" y="1325880"/>
            <a:ext cx="329184" cy="329184"/>
          </a:xfrm>
          <a:prstGeom prst="ellipse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0644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263640" y="1271016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hash —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fingerprint of this exact snapshot. First 7 characters are enough to refer to 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06440" y="2194560"/>
            <a:ext cx="329184" cy="329184"/>
          </a:xfrm>
          <a:prstGeom prst="ellipse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806440" y="2176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63640" y="2139696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&amp; when —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 is signed — that's why we ran git config on day one.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06440" y="3063240"/>
            <a:ext cx="329184" cy="329184"/>
          </a:xfrm>
          <a:prstGeom prst="ellipse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806440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63640" y="3008376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—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part a human writes. Future-you and teammates depend on it.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3977640"/>
            <a:ext cx="64008" cy="68580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3232" y="405079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 is a snapshot, not a diff.  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stores the state of every file at that moment — which is why jumping to any point in history is instant and safe.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YOUR GPS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read git status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212080" cy="3154680"/>
          </a:xfrm>
          <a:prstGeom prst="roundRect">
            <a:avLst>
              <a:gd name="adj" fmla="val 2029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03504" y="139903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86384" y="139903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69264" y="139903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1591056"/>
            <a:ext cx="4809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status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branch main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 to be committed: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new file:   invoice.py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 not staged for commit: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modified:   README.md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Untracked files: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notes.txt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97880" y="1417320"/>
            <a:ext cx="182880" cy="18288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72200" y="134416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— in the cart, will be in the next commit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7880" y="2194560"/>
            <a:ext cx="182880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212140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(modified) 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file changed, but not staged yet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97880" y="2971800"/>
            <a:ext cx="182880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72200" y="289864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(untracked) 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brand-new file Git isn't managing at all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379476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of the day: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doubt, git status. It tells you the state and suggests the next command.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→  THEN 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1: watch first, then it's your turn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114800" cy="3246120"/>
          </a:xfrm>
          <a:prstGeom prst="rect">
            <a:avLst/>
          </a:prstGeom>
          <a:solidFill>
            <a:srgbClr val="1C222E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64008" cy="324612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D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DEMO, WATCH FOR…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7830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status before git init — why the error?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.git folder — where history lives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green → clean as one change travels through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git log shows after the first commit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846320" y="1234440"/>
            <a:ext cx="3840480" cy="3246120"/>
          </a:xfrm>
          <a:prstGeom prst="rect">
            <a:avLst/>
          </a:prstGeom>
          <a:solidFill>
            <a:srgbClr val="1C222E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234440"/>
            <a:ext cx="64008" cy="324612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7492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FD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20 MIN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71907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1 — Your First Repository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74920" y="221284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4648" y="22128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labs/lab-01-your-first-repository.md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74920" y="2724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done when: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02352" y="2999232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 with 3 commits, made by you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explain red vs. green in git status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you found your root commit's full hash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0" y="64008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262E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OF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Everyday Git Workflow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— </a:t>
            </a:r>
            <a:r>
              <a:rPr lang="en-US" sz="16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comfort with the edit → stage → commit cycle you'll run for the rest of your career.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910742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9107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15414" y="3291840"/>
            <a:ext cx="1585570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15414" y="3291840"/>
            <a:ext cx="15855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65576" y="3291840"/>
            <a:ext cx="1060704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65576" y="329184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50976" y="4160520"/>
            <a:ext cx="146304" cy="146304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43584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536192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28800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THE RHYTHM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loop you'll run thousands of times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8745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0392B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170432" y="129844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70432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874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EDIT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24028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files in your editor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340864" y="2194560"/>
            <a:ext cx="347472" cy="237744"/>
          </a:xfrm>
          <a:prstGeom prst="rightArrow">
            <a:avLst/>
          </a:prstGeom>
          <a:solidFill>
            <a:srgbClr val="9AA4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697480" y="1554480"/>
            <a:ext cx="18745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969DA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10712" y="1298448"/>
            <a:ext cx="457200" cy="457200"/>
          </a:xfrm>
          <a:prstGeom prst="ellipse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10712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697480" y="1874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969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807208" y="224028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status + git diff — what did I change?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81144" y="2194560"/>
            <a:ext cx="347472" cy="237744"/>
          </a:xfrm>
          <a:prstGeom prst="rightArrow">
            <a:avLst/>
          </a:prstGeom>
          <a:solidFill>
            <a:srgbClr val="9AA4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937760" y="1554480"/>
            <a:ext cx="18745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8700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650992" y="1298448"/>
            <a:ext cx="457200" cy="457200"/>
          </a:xfrm>
          <a:prstGeom prst="ellipse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50992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1874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F87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47488" y="224028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add the changes that belong together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821424" y="2194560"/>
            <a:ext cx="347472" cy="237744"/>
          </a:xfrm>
          <a:prstGeom prst="rightArrow">
            <a:avLst/>
          </a:prstGeom>
          <a:solidFill>
            <a:srgbClr val="9AA4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178040" y="1554480"/>
            <a:ext cx="18745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891272" y="1298448"/>
            <a:ext cx="457200" cy="457200"/>
          </a:xfrm>
          <a:prstGeom prst="ellipse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91272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78040" y="187452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A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87768" y="224028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 -m with a clear message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371600" y="3429000"/>
            <a:ext cx="6400800" cy="0"/>
          </a:xfrm>
          <a:prstGeom prst="line">
            <a:avLst/>
          </a:prstGeom>
          <a:noFill/>
          <a:ln w="19050">
            <a:solidFill>
              <a:srgbClr val="9AA4A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371600" y="3520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back to editing — small loops, many times a day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57200" y="3977640"/>
            <a:ext cx="82296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57200" y="3977640"/>
            <a:ext cx="64008" cy="68580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13232" y="405079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small, commit often.  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Professionals commit several times an hour. Small commits = easy code review, easy bug hunting, easy undo.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NEVER COMMIT BLIND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diff answers two different questions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" cy="25603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463040"/>
            <a:ext cx="2194560" cy="411480"/>
          </a:xfrm>
          <a:prstGeom prst="roundRect">
            <a:avLst>
              <a:gd name="adj" fmla="val 13333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1463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99339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have I edited but not yet staged?”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4871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working directory ↔ staging area. The moment you git add, the change leaves this view.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while editing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402336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64008" cy="256032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92040" y="1463040"/>
            <a:ext cx="2926080" cy="411480"/>
          </a:xfrm>
          <a:prstGeom prst="roundRect">
            <a:avLst>
              <a:gd name="adj" fmla="val 13333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92040" y="1463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--staged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92040" y="199339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exactly am I about to commit?”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4871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staging area ↔ last commit. Your final self-review before the snapshot becomes permanent.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right before every commit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4023360"/>
            <a:ext cx="64008" cy="64008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3232" y="408736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diff:  </a:t>
            </a:r>
            <a:r>
              <a:rPr lang="en-US" sz="13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removed line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3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added line</a:t>
            </a: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a changed line shows as one of each. A change lives in exactly one of the two views, never both.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TIME TRAVEL, READ-ONLY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git log toolbox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11880" y="132588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detail: hash, author, date, message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32588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one commit closely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39112"/>
            <a:ext cx="82296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64008" cy="603504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85800" y="203911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11880" y="203911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commit per line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03911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daily driver — quick orientation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752344"/>
            <a:ext cx="82296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275234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--graph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11880" y="2752344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branch &amp; merge structure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2752344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how work flowed together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465576"/>
            <a:ext cx="82296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346557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-p -2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11880" y="346557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diffs for the last 2 commits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346557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exactly changed, line by line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 in the pager? </a:t>
            </a: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output opens in a scroll view — press </a:t>
            </a:r>
            <a:r>
              <a:rPr lang="en-US" sz="13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quit. (Everyone hits this. Now you know.)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WRITE FOR FUTURE-YOU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 messages that age well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" cy="2331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UNHELPFUL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1783080"/>
            <a:ext cx="3474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"stuff"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"asdf"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"fixed it"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"changes"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"final commit (for real)"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280160"/>
            <a:ext cx="64008" cy="233172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9472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USEFUL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19472" y="1783080"/>
            <a:ext cx="3566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"Add customs form validation"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"Fix rounding error in totals"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"Remove unused login helper"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"Update README setup steps"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1792" y="3931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Imperative mood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“Add…”, “Fix…” — matches Git's own style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91840" y="384048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56432" y="3931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&amp; why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teammate should get it without reading code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384048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91072" y="39319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chars first line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enough to scan in git log --oneline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KEEP THE JUNK OUT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.gitignore — what Git should never track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text file of patterns. Anything matching is invisible to Git — it stays on your disk but never gets staged or committed. The </a:t>
            </a: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itself IS committed</a:t>
            </a:r>
            <a:r>
              <a:rPr lang="en-US" sz="14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 whole team ignores the same things.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4023360" cy="2606040"/>
          </a:xfrm>
          <a:prstGeom prst="roundRect">
            <a:avLst>
              <a:gd name="adj" fmla="val 2456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03504" y="199339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86384" y="199339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9264" y="199339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2185416"/>
            <a:ext cx="36210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.gitignore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*.log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any log file, anywhere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secrets &amp; credentials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node_modules/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huge installed dependencies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build/</a:t>
            </a:r>
            <a:endParaRPr lang="en-US" sz="11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generated output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1874520"/>
            <a:ext cx="64008" cy="80467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193852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— </a:t>
            </a: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keys, passwords, .env files — leaked keys on public GitHub get found by bots in seconds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2788920"/>
            <a:ext cx="402336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64008" cy="804672"/>
          </a:xfrm>
          <a:prstGeom prst="rect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92040" y="285292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BF8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files — </a:t>
            </a: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output, logs, caches — recreated anyway, just noise in history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63440" y="3703320"/>
            <a:ext cx="402336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3440" y="3703320"/>
            <a:ext cx="64008" cy="804672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376732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— </a:t>
            </a: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node_modules/ and friends — hundreds of MB that install from a list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Gotcha: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only affects untracked files — a pushed secret must be rotated, not just deleted.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→  THEN 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2: watch first, then it's your turn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114800" cy="3246120"/>
          </a:xfrm>
          <a:prstGeom prst="rect">
            <a:avLst/>
          </a:prstGeom>
          <a:solidFill>
            <a:srgbClr val="1C222E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64008" cy="324612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D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DEMO, WATCH FOR…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7830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visible in git diff… then 'vanishing' after add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 --staged as the pre-commit review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fake API key — and how .gitignore hides it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 --oneline vs git log -p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846320" y="1234440"/>
            <a:ext cx="3840480" cy="3246120"/>
          </a:xfrm>
          <a:prstGeom prst="rect">
            <a:avLst/>
          </a:prstGeom>
          <a:solidFill>
            <a:srgbClr val="1C222E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234440"/>
            <a:ext cx="64008" cy="324612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7492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FD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25 MIN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71907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2 — Edit → Stage → Commit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74920" y="221284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4648" y="22128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labs/lab-02-everyday-workflow.md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74920" y="2724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done when: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02352" y="2999232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used both diff views and can explain them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.gitignore hiding logs, secrets &amp; build output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farewell() committed with a clean message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0" y="64008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262E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OF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Fundamentals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— </a:t>
            </a:r>
            <a:r>
              <a:rPr lang="en-US" sz="16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code to GitHub, pull it back down, and clone like it's day one on the job.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910742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9107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15414" y="3291840"/>
            <a:ext cx="910742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15414" y="3291840"/>
            <a:ext cx="9107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90749" y="3291840"/>
            <a:ext cx="985723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90749" y="3291840"/>
            <a:ext cx="9857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941064" y="3291840"/>
            <a:ext cx="1060704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941064" y="329184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50976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243584" y="4160520"/>
            <a:ext cx="146304" cy="146304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536192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828800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TWO DIFFERENT THINGS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 vs. GitHub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" cy="2743200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463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51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version control tool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your machine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fully offline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Linus Torvalds, 2005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open source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280160"/>
            <a:ext cx="64008" cy="274320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9472" y="1463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969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937760" y="196596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website that hosts Git repos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the cloud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collaboration: PRs, reviews, issues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 Microsoft, ~150M+ users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several hosts (GitLab, Bitbucket)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206240"/>
            <a:ext cx="82296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64008" cy="59436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13232" y="426110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Analogy:  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is to GitHub what photos are to Instagram — the thing itself vs. the place you share it.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MORE THAN STORAGE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GitHub gives you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64008" cy="141732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4356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969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&amp; hosting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18013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repo, safe in the cloud, browsable from anywhere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91840" y="132588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64008" cy="141732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14356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A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474720" y="18013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people, one codebase, without emailing zip files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26480" y="132588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26480" y="1325880"/>
            <a:ext cx="64008" cy="1417320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14356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051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309360" y="18013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→ review → merge: how teams ship (preview at 2:05)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64008" cy="1417320"/>
          </a:xfrm>
          <a:prstGeom prst="rect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30358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BF87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 &amp; projects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34015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bugs, ideas and work alongside the code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291840" y="292608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91840" y="2926080"/>
            <a:ext cx="64008" cy="1417320"/>
          </a:xfrm>
          <a:prstGeom prst="rect">
            <a:avLst/>
          </a:prstGeom>
          <a:solidFill>
            <a:srgbClr val="6E40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74720" y="30358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E40C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Actions (CI/CD)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474720" y="34015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 that test and deploy your code on every push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26480" y="2926080"/>
            <a:ext cx="26517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26480" y="2926080"/>
            <a:ext cx="64008" cy="1417320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309360" y="30358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6FE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Codespaces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309360" y="340156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dev machine in your browser — you're using it today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use: hosting + Codespaces. The rest is your roadmap.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THE BRIDGE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verbs that move commits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017520" y="1234440"/>
            <a:ext cx="3108960" cy="777240"/>
          </a:xfrm>
          <a:prstGeom prst="roundRect">
            <a:avLst>
              <a:gd name="adj" fmla="val 10588"/>
            </a:avLst>
          </a:prstGeom>
          <a:solidFill>
            <a:srgbClr val="E7F0FB"/>
          </a:solidFill>
          <a:ln w="19050">
            <a:solidFill>
              <a:srgbClr val="0969DA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017520" y="1234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origin  (GitHub)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17520" y="3291840"/>
            <a:ext cx="3108960" cy="777240"/>
          </a:xfrm>
          <a:prstGeom prst="roundRect">
            <a:avLst>
              <a:gd name="adj" fmla="val 10588"/>
            </a:avLst>
          </a:prstGeom>
          <a:solidFill>
            <a:srgbClr val="FDEDE9"/>
          </a:solidFill>
          <a:ln w="19050">
            <a:solidFill>
              <a:srgbClr val="F05133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17520" y="3291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local repo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10128" y="2148840"/>
            <a:ext cx="310896" cy="1005840"/>
          </a:xfrm>
          <a:prstGeom prst="upArrow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011680" y="2468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43000" y="27432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my commits up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32120" y="2148840"/>
            <a:ext cx="310896" cy="1005840"/>
          </a:xfrm>
          <a:prstGeom prst="downArrow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89320" y="24688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969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89320" y="27432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+ merge their commits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160520"/>
            <a:ext cx="40233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64008" cy="594360"/>
          </a:xfrm>
          <a:prstGeom prst="rect">
            <a:avLst/>
          </a:prstGeom>
          <a:solidFill>
            <a:srgbClr val="6E40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368" y="4197096"/>
            <a:ext cx="3749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E4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</a:t>
            </a: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first copy: entire repo + history, remote pre-wired. Day one at any job.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63440" y="4160520"/>
            <a:ext cx="40233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63440" y="4160520"/>
            <a:ext cx="64008" cy="594360"/>
          </a:xfrm>
          <a:prstGeom prst="rect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64608" y="4197096"/>
            <a:ext cx="3749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BF8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fetch </a:t>
            </a: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download news without merging. Look before you leap; pull = fetch + merge.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THREE STEPS, ONCE PER PROJECT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Publishing an existing local repo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389888"/>
            <a:ext cx="420624" cy="420624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280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 an EMPTY repo on GitHub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097280" y="1664208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 → New repository. No README, no .gitignore — your local repo already has history; two histories collide.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92040" y="1371600"/>
            <a:ext cx="3794760" cy="566928"/>
          </a:xfrm>
          <a:prstGeom prst="rect">
            <a:avLst/>
          </a:prstGeom>
          <a:solidFill>
            <a:srgbClr val="E7F0FB"/>
          </a:solidFill>
          <a:ln w="9525">
            <a:solidFill>
              <a:srgbClr val="0969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0" y="13716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browser — leave every checkbox unchecked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420624" cy="420624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2423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Tell Git where the remote is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97280" y="2807208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“origin” is just the conventional nickname for the remote's URL.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92040" y="2514600"/>
            <a:ext cx="3794760" cy="566928"/>
          </a:xfrm>
          <a:prstGeom prst="roundRect">
            <a:avLst>
              <a:gd name="adj" fmla="val 9677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25146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remote add origin https://github.com/you/repo.git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3675888"/>
            <a:ext cx="420624" cy="420624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3657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97280" y="3566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 and link the branch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097280" y="3950208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 links local main to origin's main — after this, plain git push / git pull just work.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92040" y="3657600"/>
            <a:ext cx="3794760" cy="566928"/>
          </a:xfrm>
          <a:prstGeom prst="roundRect">
            <a:avLst>
              <a:gd name="adj" fmla="val 9677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0" y="36576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 -u origin main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407408"/>
            <a:ext cx="8229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" y="4407408"/>
            <a:ext cx="64008" cy="384048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3232" y="44165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verify in the browser: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repo page — your files, commits and hashes are there.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PROVING WHO YOU 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Authentication in 2026 (no passwords!)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removed password pushes in 2021. </a:t>
            </a:r>
            <a:r>
              <a:rPr lang="en-US" sz="14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it's tokens managed for you — usually via a one-time browser sign-in.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64008" cy="228600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9385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19385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34086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Codespaces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signed in. Pushing to your own repos just works. Zero setup — today's happy path.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91840" y="1783080"/>
            <a:ext cx="64008" cy="228600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74720" y="19385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74720" y="19385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DEFAULT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474720" y="234086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HTTPS + credential manager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474720" y="29260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push opens a browser sign-in; Git Credential Manager stores a token. Standard on Windows &amp; macOS.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6517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26480" y="1783080"/>
            <a:ext cx="64008" cy="2286000"/>
          </a:xfrm>
          <a:prstGeom prst="rect">
            <a:avLst/>
          </a:prstGeom>
          <a:solidFill>
            <a:srgbClr val="5963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09360" y="19385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5963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09360" y="19385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309360" y="234086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SSH keys / gh CLI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309360" y="29260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pair on your machine, or `gh auth login`. Preferred by many pros — a topic for later, not today.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auth fights you in the lab, raise a hand fast — </a:t>
            </a:r>
            <a:r>
              <a:rPr lang="en-US" sz="1250" i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the #1 first-day friction in real jobs too.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TWO WAYS EVERY REPO BEGINS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init + connect  vs.  clone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40233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64008" cy="2651760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BORN ON YOUR MACHINE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13232" y="182880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work, add, commit…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&lt;url&gt;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main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had it first; GitHub gets a copy.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40233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63440" y="1325880"/>
            <a:ext cx="64008" cy="265176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919472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ALREADY EXISTS SOMEWHERE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19472" y="182880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250" b="1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&lt;url&gt;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…that's it. One command: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 history downloaded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origin remote pre-configured</a:t>
            </a:r>
            <a:endParaRPr lang="en-US" sz="125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main checked out, tracking set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919472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one at every job starts here.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64008" cy="59436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13232" y="4206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habit: 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before you start working, pull before you push. Most sync pain disappears.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→  THEN 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3: watch first, then it's your turn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114800" cy="3246120"/>
          </a:xfrm>
          <a:prstGeom prst="rect">
            <a:avLst/>
          </a:prstGeom>
          <a:solidFill>
            <a:srgbClr val="1C222E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64008" cy="324612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D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DEMO, WATCH FOR…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7830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the GitHub repo EMPTY — and why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add + push -u, then refresh the browser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on GitHub.com → my laptop has no idea → pull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bringing down history + remote in one step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846320" y="1234440"/>
            <a:ext cx="3840480" cy="3246120"/>
          </a:xfrm>
          <a:prstGeom prst="rect">
            <a:avLst/>
          </a:prstGeom>
          <a:solidFill>
            <a:srgbClr val="1C222E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234440"/>
            <a:ext cx="64008" cy="324612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7492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FD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25 MIN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71907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3 — Local Meets Remote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74920" y="221284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4648" y="22128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labs/lab-03-local-meets-remote.md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74920" y="2724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done when: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02352" y="2999232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repo is live on github.com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round-tripped a change: web edit → pull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synced two local copies through GitHub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0" y="64008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262E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OF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Branching Basics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— </a:t>
            </a:r>
            <a:r>
              <a:rPr lang="en-US" sz="16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branches well enough to stop fearing them.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285646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12856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090318" y="3291840"/>
            <a:ext cx="985723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090318" y="3291840"/>
            <a:ext cx="9857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0634" y="3291840"/>
            <a:ext cx="1285646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40634" y="3291840"/>
            <a:ext cx="12856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50976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43584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536192" y="4160520"/>
            <a:ext cx="146304" cy="146304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28800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SMALLER THAN YOU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branch is just a movable pointer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1298448" y="2569464"/>
            <a:ext cx="987552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2377440"/>
            <a:ext cx="384048" cy="384048"/>
          </a:xfrm>
          <a:prstGeom prst="ellipse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a1f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70048" y="2569464"/>
            <a:ext cx="987552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0" y="2377440"/>
            <a:ext cx="384048" cy="384048"/>
          </a:xfrm>
          <a:prstGeom prst="ellipse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194560" y="283464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b72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41648" y="2569464"/>
            <a:ext cx="987552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0" y="2377440"/>
            <a:ext cx="384048" cy="384048"/>
          </a:xfrm>
          <a:prstGeom prst="ellipse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c93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377440"/>
            <a:ext cx="384048" cy="384048"/>
          </a:xfrm>
          <a:prstGeom prst="ellipse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37760" y="2834640"/>
            <a:ext cx="566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d04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21224" y="2377440"/>
            <a:ext cx="1005840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26480" y="1325880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510528" y="1508760"/>
            <a:ext cx="987552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498080" y="1325880"/>
            <a:ext cx="384048" cy="384048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00600" y="3127248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0600" y="31272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0368" y="2798064"/>
            <a:ext cx="0" cy="329184"/>
          </a:xfrm>
          <a:prstGeom prst="line">
            <a:avLst/>
          </a:prstGeom>
          <a:noFill/>
          <a:ln w="19050">
            <a:solidFill>
              <a:srgbClr val="1F2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690104" y="1709928"/>
            <a:ext cx="0" cy="100584"/>
          </a:xfrm>
          <a:prstGeom prst="line">
            <a:avLst/>
          </a:prstGeom>
          <a:noFill/>
          <a:ln w="19050">
            <a:solidFill>
              <a:srgbClr val="F051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858000" y="1810512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58000" y="1810512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new-feature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520440"/>
            <a:ext cx="26517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57200" y="3520440"/>
            <a:ext cx="64008" cy="1234440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008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051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41 bytes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640080" y="3986784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is literally a tiny file holding one commit hash — not a copy of your code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91840" y="3520440"/>
            <a:ext cx="26517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91840" y="3520440"/>
            <a:ext cx="64008" cy="123444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47472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969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instant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3474720" y="3986784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or switching costs nothing; Git just repaints your folder from its database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26480" y="3520440"/>
            <a:ext cx="26517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126480" y="3520440"/>
            <a:ext cx="64008" cy="123444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30936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DA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6309360" y="3986784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on a branch are as safe as commits anywhere — branches protect work, not endanger it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THE POINT OF IT ALL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branches exist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51206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64008" cy="777240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3898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safely — </a:t>
            </a: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anything on a branch — main is untouched until you decide to merge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1206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64008" cy="77724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3232" y="23042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parallel — </a:t>
            </a: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teammates, five branches, zero stepping on each other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51206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64008" cy="77724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3232" y="32186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main shippable — </a:t>
            </a: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rule: main always works. All work happens on branches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06440" y="1325880"/>
            <a:ext cx="2880360" cy="2606040"/>
          </a:xfrm>
          <a:prstGeom prst="roundRect">
            <a:avLst>
              <a:gd name="adj" fmla="val 2456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952744" y="144475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35624" y="144475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318504" y="144475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07608" y="1636776"/>
            <a:ext cx="24780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branch</a:t>
            </a:r>
            <a:endParaRPr lang="en-US" sz="10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main</a:t>
            </a:r>
            <a:endParaRPr lang="en-US" sz="1050" dirty="0"/>
          </a:p>
          <a:p>
            <a:pPr marL="0" indent="0" algn="l">
              <a:spcAft>
                <a:spcPts val="300"/>
              </a:spcAft>
              <a:buNone/>
            </a:pPr>
            <a:endParaRPr lang="en-US" sz="10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switch -c fix-totals</a:t>
            </a:r>
            <a:endParaRPr lang="en-US" sz="10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Switched to a new branch</a:t>
            </a:r>
            <a:endParaRPr lang="en-US" sz="10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'fix-totals'</a:t>
            </a:r>
            <a:endParaRPr lang="en-US" sz="1050" dirty="0"/>
          </a:p>
          <a:p>
            <a:pPr marL="0" indent="0" algn="l">
              <a:spcAft>
                <a:spcPts val="300"/>
              </a:spcAft>
              <a:buNone/>
            </a:pPr>
            <a:endParaRPr lang="en-US" sz="10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branch</a:t>
            </a:r>
            <a:endParaRPr lang="en-US" sz="10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E3B3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fix-totals</a:t>
            </a:r>
            <a:endParaRPr lang="en-US" sz="105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64008" cy="59436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3232" y="4206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Real-team rule you'll meet everywhere: 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commits directly to main. Every change rides in on a branch.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0" grpId="0" animBg="1"/>
      <p:bldP spid="21" grpId="0" animBg="1"/>
      <p:bldP spid="2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THE MOVES · AND THE DISAPPEARING 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Creating and switching branches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120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1280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 &lt;name&gt;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546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branch and move onto it (-c = create)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5120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193852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&lt;name&gt;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154680" y="19385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an existing branch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96896"/>
            <a:ext cx="5120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8368" y="259689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154680" y="259689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branches; * marks where you are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120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8368" y="32552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-d &lt;name&gt;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154680" y="325526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merged branch (it refuses if unmerged — safe)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06440" y="1280160"/>
            <a:ext cx="288036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806440" y="1280160"/>
            <a:ext cx="64008" cy="256032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16752" y="1417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“WHOA” MOMENT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16752" y="1737360"/>
            <a:ext cx="248716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branches and files appear or vanish from your folder. </a:t>
            </a: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deleted — Git repaints your working directory to match the branch's snapshot. Your work lives in commits, not in the folder.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57200" y="4023360"/>
            <a:ext cx="64008" cy="685800"/>
          </a:xfrm>
          <a:prstGeom prst="rect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3232" y="409651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git checkout in old tutorials? </a:t>
            </a: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job. switch (2019) is the modern, single-purpose command — use it; translate checkout when you read it.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BRINGING WORK HOME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Merging: two shapes of history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" cy="274320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13232" y="1719072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didn't move while you worked → Git slides the pointer forward. No new commit.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188720" y="2880360"/>
            <a:ext cx="548640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14400" y="2743200"/>
            <a:ext cx="274320" cy="274320"/>
          </a:xfrm>
          <a:prstGeom prst="ellipse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011680" y="2880360"/>
            <a:ext cx="548640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737360" y="2743200"/>
            <a:ext cx="274320" cy="274320"/>
          </a:xfrm>
          <a:prstGeom prst="ellipse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834640" y="2880360"/>
            <a:ext cx="548640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560320" y="2743200"/>
            <a:ext cx="274320" cy="274320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83280" y="2743200"/>
            <a:ext cx="274320" cy="274320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51460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slides ▸ here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3232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merge → “Fast-forward”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1280160"/>
            <a:ext cx="40233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663440" y="1280160"/>
            <a:ext cx="64008" cy="2743200"/>
          </a:xfrm>
          <a:prstGeom prst="rect">
            <a:avLst/>
          </a:prstGeom>
          <a:solidFill>
            <a:srgbClr val="6E40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19472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COMMIT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19472" y="1719072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moved → Git creates one new commit with two parents, tying history together.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212080" y="2788920"/>
            <a:ext cx="274320" cy="274320"/>
          </a:xfrm>
          <a:prstGeom prst="ellipse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0" y="2834640"/>
            <a:ext cx="685800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486400" y="3017520"/>
            <a:ext cx="685800" cy="41148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172200" y="2286000"/>
            <a:ext cx="274320" cy="274320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72200" y="3291840"/>
            <a:ext cx="274320" cy="274320"/>
          </a:xfrm>
          <a:prstGeom prst="ellipse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46520" y="2423160"/>
            <a:ext cx="685800" cy="41148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46520" y="3429000"/>
            <a:ext cx="685800" cy="0"/>
          </a:xfrm>
          <a:prstGeom prst="line">
            <a:avLst/>
          </a:prstGeom>
          <a:noFill/>
          <a:ln w="25400">
            <a:solidFill>
              <a:srgbClr val="9AA4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14032" y="2788920"/>
            <a:ext cx="310896" cy="310896"/>
          </a:xfrm>
          <a:prstGeom prst="ellipse">
            <a:avLst/>
          </a:prstGeom>
          <a:solidFill>
            <a:srgbClr val="6E40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E4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commit (2 parents)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19472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merge → “Merge made by ort”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" y="4206240"/>
            <a:ext cx="64008" cy="54864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13232" y="4242816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 to remember: </a:t>
            </a: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branch that should RECEIVE the changes, then </a:t>
            </a:r>
            <a:r>
              <a:rPr lang="en-US" sz="13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&lt;branch&gt;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AWARENESS, NOT MASTERY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 conflicts: a question, not an error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branches change the </a:t>
            </a: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lines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Git won't guess. It pauses the merge and asks you to choose. Different files or different lines? Git merges silently — conflicts are rarer than their reputation.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4206240" cy="2011680"/>
          </a:xfrm>
          <a:prstGeom prst="roundRect">
            <a:avLst>
              <a:gd name="adj" fmla="val 3182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03504" y="199339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86384" y="199339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9264" y="199339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2185416"/>
            <a:ext cx="38039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HEAD</a:t>
            </a:r>
            <a:endParaRPr lang="en-US" sz="12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Team Engineering Journal</a:t>
            </a:r>
            <a:endParaRPr lang="en-US" sz="12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2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My Engineering Journal</a:t>
            </a:r>
            <a:endParaRPr lang="en-US" sz="12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update-title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between &lt;&lt;&lt;&lt;&lt;&lt;&lt; and ======= : 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branch's version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5963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between ======= and &gt;&gt;&gt;&gt;&gt;&gt;&gt; : </a:t>
            </a:r>
            <a:endParaRPr lang="en-US" sz="12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incoming branch's version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92024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2DA44E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4114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file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40864" y="4160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78608" y="4114800"/>
            <a:ext cx="192024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2DA44E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670048" y="4114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what's right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62272" y="4160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00016" y="4114800"/>
            <a:ext cx="192024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2DA44E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91456" y="4114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markers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0" y="41605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21424" y="4114800"/>
            <a:ext cx="192024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2DA44E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12864" y="4114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+ commit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→  THEN 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 4: watch first, then it's your turn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114800" cy="3246120"/>
          </a:xfrm>
          <a:prstGeom prst="rect">
            <a:avLst/>
          </a:prstGeom>
          <a:solidFill>
            <a:srgbClr val="1C222E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64008" cy="324612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D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DEMO, WATCH FOR…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783080"/>
            <a:ext cx="3703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disappearing as I switch branches (and coming back)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merge — watch the pointer slide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conflict made on purpose — and resolved calmly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a branch ≠ deleting work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846320" y="1234440"/>
            <a:ext cx="3840480" cy="3246120"/>
          </a:xfrm>
          <a:prstGeom prst="rect">
            <a:avLst/>
          </a:prstGeom>
          <a:solidFill>
            <a:srgbClr val="1C222E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46320" y="1234440"/>
            <a:ext cx="64008" cy="324612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7492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FD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· 25 MIN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71907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4 — Branch, Change, Merge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74920" y="221284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418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184648" y="22128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labs/lab-04-branch-change-merge.md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74920" y="2724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done when: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02352" y="2999232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branched, committed, merged, and cleaned up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resolved one guided conflict — and survived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you can explain FF vs. merge commit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0" y="640080"/>
            <a:ext cx="32918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262E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OF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Collaboration Preview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— </a:t>
            </a:r>
            <a:r>
              <a:rPr lang="en-US" sz="16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where this is heading — how real teams turn branches into shipped software.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285646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3291840"/>
            <a:ext cx="128564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pull requests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090318" y="3291840"/>
            <a:ext cx="1135685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090318" y="3291840"/>
            <a:ext cx="11356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 review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90595" y="3291840"/>
            <a:ext cx="1360627" cy="384048"/>
          </a:xfrm>
          <a:prstGeom prst="roundRect">
            <a:avLst>
              <a:gd name="adj" fmla="val 47619"/>
            </a:avLst>
          </a:prstGeom>
          <a:solidFill>
            <a:srgbClr val="232B3A"/>
          </a:solidFill>
          <a:ln w="9525">
            <a:solidFill>
              <a:srgbClr val="3941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90595" y="3291840"/>
            <a:ext cx="13606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 main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50976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43584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536192" y="4160520"/>
            <a:ext cx="146304" cy="146304"/>
          </a:xfrm>
          <a:prstGeom prst="ellipse">
            <a:avLst/>
          </a:prstGeom>
          <a:solidFill>
            <a:srgbClr val="3941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28800" y="4160520"/>
            <a:ext cx="146304" cy="146304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THE BIG PICTURE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real teams ship code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481328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5875">
            <a:solidFill>
              <a:srgbClr val="F05133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5840" y="1371600"/>
            <a:ext cx="402336" cy="402336"/>
          </a:xfrm>
          <a:prstGeom prst="ellipse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05840" y="1353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93852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051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branch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1206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up-to-date main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920240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176272" y="1600200"/>
            <a:ext cx="1481328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5875">
            <a:solidFill>
              <a:srgbClr val="0969DA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724912" y="1371600"/>
            <a:ext cx="402336" cy="402336"/>
          </a:xfrm>
          <a:prstGeom prst="ellipse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24912" y="1353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30552" y="193852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969D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23113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commits on your branch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39312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895344" y="1600200"/>
            <a:ext cx="1481328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5875">
            <a:solidFill>
              <a:srgbClr val="6E40C9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443984" y="1371600"/>
            <a:ext cx="402336" cy="402336"/>
          </a:xfrm>
          <a:prstGeom prst="ellipse">
            <a:avLst/>
          </a:prstGeom>
          <a:solidFill>
            <a:srgbClr val="6E40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43984" y="1353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849624" y="193852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6E40C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95020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“please review &amp; merge my branch”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358384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614416" y="1600200"/>
            <a:ext cx="1481328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5875">
            <a:solidFill>
              <a:srgbClr val="BF8700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163056" y="1371600"/>
            <a:ext cx="402336" cy="402336"/>
          </a:xfrm>
          <a:prstGeom prst="ellipse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163056" y="1353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568696" y="193852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BF87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teammates comment, you revise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077456" y="2011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333488" y="1600200"/>
            <a:ext cx="1481328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882128" y="1371600"/>
            <a:ext cx="402336" cy="402336"/>
          </a:xfrm>
          <a:prstGeom prst="ellipse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882128" y="1353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87768" y="193852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DA4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3883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work lands in main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…then everyone pulls the new main, branches again, and the loop continues.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13232" y="3730752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already did steps 1, 2 and 5 — </a:t>
            </a:r>
            <a:r>
              <a:rPr lang="en-US" sz="13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solo. A pull request is just the team version of the merge you ran in Lab 4: same merge, plus a conversation in the middle. That conversation is the next session.</a:t>
            </a:r>
            <a:endParaRPr lang="en-US" sz="13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THE COLLABORATION UNIT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pull request actually 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pull request (PR) is a </a:t>
            </a: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to merge one branch into another</a:t>
            </a:r>
            <a:r>
              <a:rPr lang="en-US" sz="14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wrapped in a discussion page on GitHub. It's not a Git command; it's a GitHub feature built on top of branches and merges you already know.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40233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64008" cy="1005840"/>
          </a:xfrm>
          <a:prstGeom prst="rect">
            <a:avLst/>
          </a:prstGeom>
          <a:solidFill>
            <a:srgbClr val="0969D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21031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 anyone can read — </a:t>
            </a: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changed line, side by side, in the browser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81728" y="2011680"/>
            <a:ext cx="40233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81728" y="2011680"/>
            <a:ext cx="64008" cy="1005840"/>
          </a:xfrm>
          <a:prstGeom prst="rect">
            <a:avLst/>
          </a:prstGeom>
          <a:solidFill>
            <a:srgbClr val="6E40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0328" y="21031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conversation — </a:t>
            </a: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on specific lines; questions before code lands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40233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64008" cy="100584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quality gate — </a:t>
            </a: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and automated tests must pass before merge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81728" y="3200400"/>
            <a:ext cx="40233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681728" y="3200400"/>
            <a:ext cx="64008" cy="1005840"/>
          </a:xfrm>
          <a:prstGeom prst="rect">
            <a:avLst/>
          </a:prstGeom>
          <a:solidFill>
            <a:srgbClr val="BF87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10328" y="329184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paper trail — </a:t>
            </a: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later: what changed, who, and—crucially—why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“pull” request? </a:t>
            </a: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asking the project to pull your branch in. (Odd name, universal term.)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THE TEAM'S SOURCE OF TRUTH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 is sacred — and usually locked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074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" cy="3291840"/>
          </a:xfrm>
          <a:prstGeom prst="rect">
            <a:avLst/>
          </a:prstGeom>
          <a:solidFill>
            <a:srgbClr val="2DA44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3232" y="1444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“MAIN” MEANS ON A TEAM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" y="1783080"/>
            <a:ext cx="4617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shared, always-working version of the project — what ships to customers.</a:t>
            </a:r>
            <a:endParaRPr lang="en-US" sz="13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protection (a GitHub setting) typically enforces: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commits to main — PRs only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approving review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must pass first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15000" y="1280160"/>
            <a:ext cx="29718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4"/>
            </a:solidFill>
            <a:prstDash val="solid"/>
          </a:ln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715000" y="1280160"/>
            <a:ext cx="64008" cy="3291840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0" y="1444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WHEN YOU SEE…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178308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089904" y="190195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72784" y="190195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455664" y="190195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44768" y="2093976"/>
            <a:ext cx="21122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remote: error: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 branch</a:t>
            </a:r>
            <a:endParaRPr lang="en-US" sz="10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hint: use a 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0" y="329184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…it's not broken. It's the team's safety system saying: branch, then PR.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THIS WITH YOU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2064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43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day-one cheat sheet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40690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32588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132588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repo here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883664"/>
            <a:ext cx="4069080" cy="475488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66928" y="188366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188366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am I? (run constantly)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441448"/>
            <a:ext cx="40690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244144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&lt;f&gt; / 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44144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changes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99232"/>
            <a:ext cx="4069080" cy="475488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" y="299923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"…"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99923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what's staged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557016"/>
            <a:ext cx="40690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35570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/ --staged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51760" y="355701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unstaged / staged changes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4069080" cy="475488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" y="411480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51760" y="41148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history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1325880"/>
            <a:ext cx="40690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27448" y="132588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&lt;url&gt;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12280" y="132588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remote repo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1883664"/>
            <a:ext cx="4069080" cy="475488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727448" y="188366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/ pull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12280" y="188366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/ receive commits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617720" y="2441448"/>
            <a:ext cx="40690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244144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-v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812280" y="244144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my remote?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17720" y="2999232"/>
            <a:ext cx="4069080" cy="475488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27448" y="299923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 &lt;b&gt;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12280" y="299923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branch + switch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17720" y="3557016"/>
            <a:ext cx="40690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27448" y="35570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&lt;b&gt;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812280" y="355701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&lt;b&gt; into current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17720" y="4114800"/>
            <a:ext cx="4069080" cy="475488"/>
          </a:xfrm>
          <a:prstGeom prst="rect">
            <a:avLst/>
          </a:prstGeom>
          <a:solidFill>
            <a:srgbClr val="EEF1F4"/>
          </a:solidFill>
          <a:ln w="6350">
            <a:solidFill>
              <a:srgbClr val="D8DE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727448" y="411480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51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-d &lt;b&gt;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812280" y="41148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merged branch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git status first. Then ask. Nothing committed is ever truly lost.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5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1080" y="484632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 Fundamentals · Expeditors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051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SHIPPED TODAY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zero to push in one day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 repo with real history, built commit by commit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the three-areas model — you know where every change lives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your code on GitHub, pushed, pulled and cloned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 branch merged (and one conflict survived)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0" y="164592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250" b="1" kern="0" spc="200" dirty="0">
                <a:solidFill>
                  <a:srgbClr val="F05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GOING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Git (free book) — git-scm.com/book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 — skills.github.com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D7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goes wrong — ohshitgit.com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session: pull requests &amp; team workflow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8046720" cy="1051560"/>
          </a:xfrm>
          <a:prstGeom prst="roundRect">
            <a:avLst>
              <a:gd name="adj" fmla="val 6087"/>
            </a:avLst>
          </a:prstGeom>
          <a:solidFill>
            <a:srgbClr val="14181F"/>
          </a:solidFill>
          <a:ln/>
          <a:effectLst>
            <a:outerShdw blurRad="88900" dist="25400" dir="8100000" algn="bl" rotWithShape="0">
              <a:srgbClr val="1F243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86384" y="3639312"/>
            <a:ext cx="91440" cy="91440"/>
          </a:xfrm>
          <a:prstGeom prst="ellipse">
            <a:avLst/>
          </a:prstGeom>
          <a:solidFill>
            <a:srgbClr val="FF5F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969264" y="3639312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52144" y="3639312"/>
            <a:ext cx="91440" cy="91440"/>
          </a:xfrm>
          <a:prstGeom prst="ellipse">
            <a:avLst/>
          </a:prstGeom>
          <a:solidFill>
            <a:srgbClr val="27C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1248" y="3831336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"Day 1 complete — Git fundamentals unlocked"</a:t>
            </a:r>
            <a:endParaRPr lang="en-US" sz="1300" dirty="0"/>
          </a:p>
          <a:p>
            <a:pPr marL="0" indent="0" algn="l">
              <a:spcAft>
                <a:spcPts val="300"/>
              </a:spcAft>
              <a:buNone/>
            </a:pPr>
            <a:r>
              <a:rPr lang="en-US" sz="13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   # see you at the next session!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4748</Words>
  <Application>Microsoft Macintosh PowerPoint</Application>
  <PresentationFormat>On-screen Show (16:9)</PresentationFormat>
  <Paragraphs>748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&amp; GitHub Fundamentals — Expeditors Engineering Kickoff Day</dc:title>
  <dc:subject>PptxGenJS Presentation</dc:subject>
  <dc:creator>Tarek Atwan</dc:creator>
  <cp:lastModifiedBy>Tarek Atwan</cp:lastModifiedBy>
  <cp:revision>20</cp:revision>
  <dcterms:created xsi:type="dcterms:W3CDTF">2026-06-10T23:53:00Z</dcterms:created>
  <dcterms:modified xsi:type="dcterms:W3CDTF">2026-06-16T15:36:37Z</dcterms:modified>
</cp:coreProperties>
</file>